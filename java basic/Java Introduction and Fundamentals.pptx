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2"/>
  </p:sldMasterIdLst>
  <p:notesMasterIdLst>
    <p:notesMasterId r:id="rId27"/>
  </p:notesMasterIdLst>
  <p:sldIdLst>
    <p:sldId id="256" r:id="rId3"/>
    <p:sldId id="257" r:id="rId4"/>
    <p:sldId id="258" r:id="rId5"/>
    <p:sldId id="260" r:id="rId6"/>
    <p:sldId id="261" r:id="rId7"/>
    <p:sldId id="279" r:id="rId8"/>
    <p:sldId id="281" r:id="rId9"/>
    <p:sldId id="280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28-Aug-24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Java Introduction and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Md Zahim Hassan, Lecturer (CSE), BAUST</a:t>
            </a:r>
          </a:p>
          <a:p>
            <a:r>
              <a:rPr lang="en-US"/>
              <a:t>Tasmim, </a:t>
            </a:r>
            <a:r>
              <a:rPr lang="en-US">
                <a:sym typeface="+mn-ea"/>
              </a:rPr>
              <a:t>Lecturer (ICT), BAUST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" y="1095375"/>
            <a:ext cx="11938000" cy="5261610"/>
          </a:xfrm>
        </p:spPr>
        <p:txBody>
          <a:bodyPr/>
          <a:lstStyle/>
          <a:p>
            <a:r>
              <a:rPr lang="en-US"/>
              <a:t>Java is a high level, class based, object oriented programming language that is widely used across various operating systems.</a:t>
            </a:r>
          </a:p>
          <a:p>
            <a:endParaRPr lang="en-US"/>
          </a:p>
          <a:p>
            <a:r>
              <a:rPr lang="en-US"/>
              <a:t>To build Java programs, you need to have the </a:t>
            </a:r>
            <a:r>
              <a:rPr lang="en-US" b="1"/>
              <a:t>Java Development Kit (JDK)</a:t>
            </a:r>
            <a:r>
              <a:rPr lang="en-US"/>
              <a:t> installed on your device. However, if you're eager to start immediately, you can use a free </a:t>
            </a:r>
            <a:r>
              <a:rPr lang="en-US" b="1"/>
              <a:t>online Java compiler</a:t>
            </a:r>
            <a:r>
              <a:rPr lang="en-US"/>
              <a:t> that allows you to run Java code directly in your browser without any setup.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/>
              <a:t>Run A Java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" y="1095375"/>
            <a:ext cx="11938000" cy="5261610"/>
          </a:xfrm>
        </p:spPr>
        <p:txBody>
          <a:bodyPr/>
          <a:lstStyle/>
          <a:p>
            <a:r>
              <a:rPr lang="en-US"/>
              <a:t>Open Notepad and enter the following code: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Then save this file as </a:t>
            </a:r>
            <a:r>
              <a:rPr lang="en-US" b="1"/>
              <a:t>HelloWorld.java</a:t>
            </a:r>
            <a:r>
              <a:rPr lang="en-US"/>
              <a:t> (select "All Files" in "Save as type").</a:t>
            </a:r>
          </a:p>
          <a:p>
            <a:r>
              <a:rPr lang="en-US"/>
              <a:t>Open your command prompt in that folder and run the following commands.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</a:t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3199765" y="1495425"/>
            <a:ext cx="5754370" cy="2225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/>
              <a:t>class HelloWorld {</a:t>
            </a:r>
          </a:p>
          <a:p>
            <a:r>
              <a:rPr lang="en-US" sz="2400"/>
              <a:t>    public static void main(String[] args) {</a:t>
            </a:r>
          </a:p>
          <a:p>
            <a:r>
              <a:rPr lang="en-US" sz="2400"/>
              <a:t>        System.out.println("Hello, World!"); </a:t>
            </a:r>
          </a:p>
          <a:p>
            <a:r>
              <a:rPr lang="en-US" sz="2400"/>
              <a:t>    }</a:t>
            </a:r>
          </a:p>
          <a:p>
            <a:r>
              <a:rPr lang="en-US" sz="2400"/>
              <a:t>}</a:t>
            </a:r>
          </a:p>
        </p:txBody>
      </p:sp>
      <p:sp>
        <p:nvSpPr>
          <p:cNvPr id="8" name="Text Box 7"/>
          <p:cNvSpPr txBox="1"/>
          <p:nvPr>
            <p:custDataLst>
              <p:tags r:id="rId1"/>
            </p:custDataLst>
          </p:nvPr>
        </p:nvSpPr>
        <p:spPr>
          <a:xfrm>
            <a:off x="3218815" y="4839335"/>
            <a:ext cx="57543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javac HellowWorld.java</a:t>
            </a:r>
          </a:p>
        </p:txBody>
      </p:sp>
      <p:sp>
        <p:nvSpPr>
          <p:cNvPr id="9" name="Text Box 8"/>
          <p:cNvSpPr txBox="1"/>
          <p:nvPr>
            <p:custDataLst>
              <p:tags r:id="rId2"/>
            </p:custDataLst>
          </p:nvPr>
        </p:nvSpPr>
        <p:spPr>
          <a:xfrm>
            <a:off x="3199765" y="5564505"/>
            <a:ext cx="57543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java HelloWorld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/>
              <a:t>Basic Structure of Java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" y="1095375"/>
            <a:ext cx="11938000" cy="5261610"/>
          </a:xfrm>
        </p:spPr>
        <p:txBody>
          <a:bodyPr/>
          <a:lstStyle/>
          <a:p>
            <a:r>
              <a:rPr lang="en-US"/>
              <a:t>A Java program requires a lot of lines even for a simple program but for now, just remember this following structure.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</a:t>
            </a:fld>
            <a:endParaRPr lang="en-US"/>
          </a:p>
        </p:txBody>
      </p:sp>
      <p:sp>
        <p:nvSpPr>
          <p:cNvPr id="7" name="Text Box 6"/>
          <p:cNvSpPr txBox="1"/>
          <p:nvPr>
            <p:custDataLst>
              <p:tags r:id="rId1"/>
            </p:custDataLst>
          </p:nvPr>
        </p:nvSpPr>
        <p:spPr>
          <a:xfrm>
            <a:off x="3199765" y="2111375"/>
            <a:ext cx="575437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class </a:t>
            </a:r>
            <a:r>
              <a:rPr lang="en-US" sz="2400" b="1"/>
              <a:t>Main</a:t>
            </a:r>
            <a:r>
              <a:rPr lang="en-US" sz="2400"/>
              <a:t> {</a:t>
            </a:r>
          </a:p>
          <a:p>
            <a:r>
              <a:rPr lang="en-US" sz="2400"/>
              <a:t>    public static void main(String[] args) {</a:t>
            </a:r>
          </a:p>
          <a:p>
            <a:endParaRPr lang="en-US" sz="2400"/>
          </a:p>
          <a:p>
            <a:r>
              <a:rPr lang="en-US" sz="2400"/>
              <a:t>        ...</a:t>
            </a:r>
          </a:p>
          <a:p>
            <a:endParaRPr lang="en-US" sz="2400"/>
          </a:p>
          <a:p>
            <a:r>
              <a:rPr lang="en-US" sz="2400"/>
              <a:t>    }</a:t>
            </a:r>
          </a:p>
          <a:p>
            <a:r>
              <a:rPr lang="en-US" sz="2400"/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/>
              <a:t>Comments in Java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" y="1095375"/>
            <a:ext cx="11938000" cy="5261610"/>
          </a:xfrm>
        </p:spPr>
        <p:txBody>
          <a:bodyPr/>
          <a:lstStyle/>
          <a:p>
            <a:r>
              <a:rPr lang="en-US"/>
              <a:t>Java comments are similar to C/C++ comments.</a:t>
            </a:r>
          </a:p>
          <a:p>
            <a:r>
              <a:rPr lang="en-US"/>
              <a:t>Single Line Comments: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Multi-line Comments: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5</a:t>
            </a:fld>
            <a:endParaRPr lang="en-US"/>
          </a:p>
        </p:txBody>
      </p:sp>
      <p:sp>
        <p:nvSpPr>
          <p:cNvPr id="7" name="Text Box 6"/>
          <p:cNvSpPr txBox="1"/>
          <p:nvPr>
            <p:custDataLst>
              <p:tags r:id="rId1"/>
            </p:custDataLst>
          </p:nvPr>
        </p:nvSpPr>
        <p:spPr>
          <a:xfrm>
            <a:off x="3947795" y="1781810"/>
            <a:ext cx="5754370" cy="23399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/>
              <a:t>class HelloWorld {</a:t>
            </a:r>
          </a:p>
          <a:p>
            <a:r>
              <a:rPr lang="en-US" sz="2400"/>
              <a:t>    public static void main(String[] args) {</a:t>
            </a:r>
          </a:p>
          <a:p>
            <a:r>
              <a:rPr lang="en-US" sz="2400"/>
              <a:t>        </a:t>
            </a:r>
            <a:r>
              <a:rPr lang="en-US" sz="2400">
                <a:solidFill>
                  <a:schemeClr val="accent2"/>
                </a:solidFill>
              </a:rPr>
              <a:t>// print Hello World to the screen</a:t>
            </a:r>
            <a:endParaRPr lang="en-US" sz="2400"/>
          </a:p>
          <a:p>
            <a:r>
              <a:rPr lang="en-US" sz="2400"/>
              <a:t>        System.out.println("Hello World");</a:t>
            </a:r>
          </a:p>
          <a:p>
            <a:r>
              <a:rPr lang="en-US" sz="2400"/>
              <a:t>    }</a:t>
            </a:r>
          </a:p>
          <a:p>
            <a:r>
              <a:rPr lang="en-US" sz="2400"/>
              <a:t>}</a:t>
            </a:r>
          </a:p>
        </p:txBody>
      </p:sp>
      <p:sp>
        <p:nvSpPr>
          <p:cNvPr id="8" name="Text Box 7"/>
          <p:cNvSpPr txBox="1"/>
          <p:nvPr>
            <p:custDataLst>
              <p:tags r:id="rId2"/>
            </p:custDataLst>
          </p:nvPr>
        </p:nvSpPr>
        <p:spPr>
          <a:xfrm>
            <a:off x="3947795" y="4121785"/>
            <a:ext cx="5754370" cy="2429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/>
              <a:t>class HelloWorld {</a:t>
            </a:r>
          </a:p>
          <a:p>
            <a:r>
              <a:rPr lang="en-US" sz="2400"/>
              <a:t>    public static void main(String[] args) {</a:t>
            </a:r>
          </a:p>
          <a:p>
            <a:r>
              <a:rPr lang="en-US" sz="2400"/>
              <a:t>        </a:t>
            </a:r>
            <a:r>
              <a:rPr lang="en-US" sz="2400">
                <a:solidFill>
                  <a:schemeClr val="accent2"/>
                </a:solidFill>
              </a:rPr>
              <a:t>/* System.out.println("Hello, World!");</a:t>
            </a:r>
          </a:p>
          <a:p>
            <a:r>
              <a:rPr lang="en-US" sz="2400">
                <a:solidFill>
                  <a:schemeClr val="accent2"/>
                </a:solidFill>
              </a:rPr>
              <a:t>        System.out.println("Hello, World!");</a:t>
            </a:r>
          </a:p>
          <a:p>
            <a:r>
              <a:rPr lang="en-US" sz="2400">
                <a:solidFill>
                  <a:schemeClr val="accent2"/>
                </a:solidFill>
              </a:rPr>
              <a:t>        System.out.println("Hello, World!"); */</a:t>
            </a:r>
            <a:endParaRPr lang="en-US" sz="2400"/>
          </a:p>
          <a:p>
            <a:r>
              <a:rPr lang="en-US" sz="2400"/>
              <a:t>    }</a:t>
            </a:r>
          </a:p>
          <a:p>
            <a:r>
              <a:rPr lang="en-US" sz="240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Java Data Types (Primitive)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0F5AFA-F43A-F4E5-2992-A8BFC55ED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262" y="1043967"/>
            <a:ext cx="8343122" cy="519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574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Java Data Types (Primitive)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A14FBF-092E-0669-2D8B-6C9071661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46023"/>
            <a:ext cx="10577226" cy="477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379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Java Data Types (Primitive)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" y="1095375"/>
            <a:ext cx="11938000" cy="5261610"/>
          </a:xfrm>
        </p:spPr>
        <p:txBody>
          <a:bodyPr/>
          <a:lstStyle/>
          <a:p>
            <a:r>
              <a:rPr lang="en-US"/>
              <a:t>Basic Structure of Declaration and Definition is similar to C/C++.</a:t>
            </a:r>
          </a:p>
          <a:p>
            <a:endParaRPr lang="en-US"/>
          </a:p>
          <a:p>
            <a:r>
              <a:rPr lang="en-US"/>
              <a:t>Categories:</a:t>
            </a:r>
          </a:p>
          <a:p>
            <a:pPr lvl="1"/>
            <a:r>
              <a:rPr lang="en-US"/>
              <a:t>boolean</a:t>
            </a:r>
          </a:p>
          <a:p>
            <a:pPr lvl="1"/>
            <a:r>
              <a:rPr lang="en-US"/>
              <a:t>byte</a:t>
            </a:r>
          </a:p>
          <a:p>
            <a:pPr lvl="1"/>
            <a:r>
              <a:rPr lang="en-US"/>
              <a:t>short</a:t>
            </a:r>
          </a:p>
          <a:p>
            <a:pPr lvl="1"/>
            <a:r>
              <a:rPr lang="en-US"/>
              <a:t>int</a:t>
            </a:r>
          </a:p>
          <a:p>
            <a:pPr lvl="1"/>
            <a:r>
              <a:rPr lang="en-US"/>
              <a:t>long</a:t>
            </a:r>
          </a:p>
          <a:p>
            <a:pPr lvl="1"/>
            <a:r>
              <a:rPr lang="en-US"/>
              <a:t>double</a:t>
            </a:r>
          </a:p>
          <a:p>
            <a:pPr lvl="1"/>
            <a:r>
              <a:rPr lang="en-US"/>
              <a:t>float</a:t>
            </a:r>
          </a:p>
          <a:p>
            <a:pPr lvl="1"/>
            <a:r>
              <a:rPr lang="en-US"/>
              <a:t>char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8</a:t>
            </a:fld>
            <a:endParaRPr lang="en-US"/>
          </a:p>
        </p:txBody>
      </p:sp>
      <p:sp>
        <p:nvSpPr>
          <p:cNvPr id="10" name="Text Box 9"/>
          <p:cNvSpPr txBox="1"/>
          <p:nvPr>
            <p:custDataLst>
              <p:tags r:id="rId1"/>
            </p:custDataLst>
          </p:nvPr>
        </p:nvSpPr>
        <p:spPr>
          <a:xfrm>
            <a:off x="3218815" y="1703705"/>
            <a:ext cx="5754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dataType variable_Name = Value;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3943985" y="2329180"/>
            <a:ext cx="337693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boolean flag = true;</a:t>
            </a:r>
          </a:p>
          <a:p>
            <a:endParaRPr lang="en-US" sz="2400"/>
          </a:p>
          <a:p>
            <a:r>
              <a:rPr lang="en-US" sz="2400"/>
              <a:t>byte range;</a:t>
            </a:r>
          </a:p>
          <a:p>
            <a:r>
              <a:rPr lang="en-US" sz="2400"/>
              <a:t>range = 124;</a:t>
            </a:r>
          </a:p>
          <a:p>
            <a:endParaRPr lang="en-US" sz="2400"/>
          </a:p>
          <a:p>
            <a:r>
              <a:rPr lang="en-US" sz="2400"/>
              <a:t>short temperature;</a:t>
            </a:r>
          </a:p>
          <a:p>
            <a:r>
              <a:rPr lang="en-US" sz="2400"/>
              <a:t>temperature = -200;</a:t>
            </a:r>
          </a:p>
          <a:p>
            <a:endParaRPr lang="en-US" sz="2400"/>
          </a:p>
          <a:p>
            <a:r>
              <a:rPr lang="en-US" sz="2400"/>
              <a:t>int range = -4250000;</a:t>
            </a:r>
          </a:p>
          <a:p>
            <a:r>
              <a:rPr lang="en-US" sz="2400"/>
              <a:t>long range = -42332200000L;</a:t>
            </a:r>
          </a:p>
        </p:txBody>
      </p:sp>
      <p:sp>
        <p:nvSpPr>
          <p:cNvPr id="12" name="Text Box 11"/>
          <p:cNvSpPr txBox="1"/>
          <p:nvPr>
            <p:custDataLst>
              <p:tags r:id="rId2"/>
            </p:custDataLst>
          </p:nvPr>
        </p:nvSpPr>
        <p:spPr>
          <a:xfrm>
            <a:off x="7447915" y="2456180"/>
            <a:ext cx="337693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double number = -42.3;</a:t>
            </a:r>
          </a:p>
          <a:p>
            <a:endParaRPr lang="en-US" sz="2400"/>
          </a:p>
          <a:p>
            <a:r>
              <a:rPr lang="en-US" sz="2400"/>
              <a:t>float number = -42.3f;</a:t>
            </a:r>
          </a:p>
          <a:p>
            <a:endParaRPr lang="en-US" sz="2400"/>
          </a:p>
          <a:p>
            <a:r>
              <a:rPr lang="en-US" sz="2400"/>
              <a:t>char letter1 = '9';</a:t>
            </a:r>
          </a:p>
        </p:txBody>
      </p:sp>
    </p:spTree>
    <p:extLst>
      <p:ext uri="{BB962C8B-B14F-4D97-AF65-F5344CB8AC3E}">
        <p14:creationId xmlns:p14="http://schemas.microsoft.com/office/powerpoint/2010/main" val="312015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Java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" y="1095375"/>
            <a:ext cx="11938000" cy="5261610"/>
          </a:xfrm>
        </p:spPr>
        <p:txBody>
          <a:bodyPr/>
          <a:lstStyle/>
          <a:p>
            <a:r>
              <a:rPr lang="en-US"/>
              <a:t>Operators in Java can be classified into 5 types:</a:t>
            </a:r>
          </a:p>
          <a:p>
            <a:pPr lvl="1"/>
            <a:r>
              <a:rPr lang="en-US"/>
              <a:t>Arithmetic Operators</a:t>
            </a:r>
          </a:p>
          <a:p>
            <a:pPr lvl="1"/>
            <a:r>
              <a:rPr lang="en-US"/>
              <a:t>Assignment Operators</a:t>
            </a:r>
          </a:p>
          <a:p>
            <a:pPr lvl="1"/>
            <a:r>
              <a:rPr lang="en-US"/>
              <a:t>Relational Operators</a:t>
            </a:r>
          </a:p>
          <a:p>
            <a:pPr lvl="1"/>
            <a:r>
              <a:rPr lang="en-US"/>
              <a:t>Logical Operators</a:t>
            </a:r>
          </a:p>
          <a:p>
            <a:pPr lvl="1"/>
            <a:r>
              <a:rPr lang="en-US"/>
              <a:t>Unary Operators</a:t>
            </a:r>
          </a:p>
          <a:p>
            <a:pPr lvl="1"/>
            <a:r>
              <a:rPr lang="en-US"/>
              <a:t>Bitwise Operators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Arithmetic Operators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75055" y="1062990"/>
            <a:ext cx="9913620" cy="527748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7" name="Table 6"/>
          <p:cNvGraphicFramePr/>
          <p:nvPr/>
        </p:nvGraphicFramePr>
        <p:xfrm>
          <a:off x="6096000" y="1281303"/>
          <a:ext cx="783588" cy="5170164"/>
        </p:xfrm>
        <a:graphic>
          <a:graphicData uri="http://schemas.openxmlformats.org/drawingml/2006/table">
            <a:tbl>
              <a:tblPr/>
              <a:tblGrid>
                <a:gridCol w="391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155"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Operator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Operation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+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Addition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77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-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Subtraction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01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*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Multiplication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/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Division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9285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%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Modulo Operation (Remainder after division)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Assignment Operators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7" name="Table 6"/>
          <p:cNvGraphicFramePr/>
          <p:nvPr/>
        </p:nvGraphicFramePr>
        <p:xfrm>
          <a:off x="6096000" y="1281303"/>
          <a:ext cx="783588" cy="5170164"/>
        </p:xfrm>
        <a:graphic>
          <a:graphicData uri="http://schemas.openxmlformats.org/drawingml/2006/table">
            <a:tbl>
              <a:tblPr/>
              <a:tblGrid>
                <a:gridCol w="391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155"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Operator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Operation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+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Addition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77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-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Subtraction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01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*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Multiplication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/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Division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9285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%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Modulo Operation (Remainder after division)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Content Placeholder 7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38200" y="996950"/>
            <a:ext cx="10141585" cy="52774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Relational Operators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7" name="Table 6"/>
          <p:cNvGraphicFramePr/>
          <p:nvPr/>
        </p:nvGraphicFramePr>
        <p:xfrm>
          <a:off x="6096000" y="1281303"/>
          <a:ext cx="783588" cy="5170164"/>
        </p:xfrm>
        <a:graphic>
          <a:graphicData uri="http://schemas.openxmlformats.org/drawingml/2006/table">
            <a:tbl>
              <a:tblPr/>
              <a:tblGrid>
                <a:gridCol w="391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155"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Operator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Operation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+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Addition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77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-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Subtraction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01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*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Multiplication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/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Division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9285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%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Modulo Operation (Remainder after division)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83920" y="1195070"/>
            <a:ext cx="10469880" cy="5142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Logical Operators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7" name="Table 6"/>
          <p:cNvGraphicFramePr/>
          <p:nvPr/>
        </p:nvGraphicFramePr>
        <p:xfrm>
          <a:off x="6096000" y="1281303"/>
          <a:ext cx="783588" cy="5170164"/>
        </p:xfrm>
        <a:graphic>
          <a:graphicData uri="http://schemas.openxmlformats.org/drawingml/2006/table">
            <a:tbl>
              <a:tblPr/>
              <a:tblGrid>
                <a:gridCol w="391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155"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Operator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Operation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+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Addition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77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-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Subtraction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01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*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Multiplication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/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Division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9285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%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Modulo Operation (Remainder after division)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Content Placeholder 7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6435" y="1281430"/>
            <a:ext cx="10667365" cy="40722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Unary Operators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7" name="Table 6"/>
          <p:cNvGraphicFramePr/>
          <p:nvPr/>
        </p:nvGraphicFramePr>
        <p:xfrm>
          <a:off x="6096000" y="1281303"/>
          <a:ext cx="783588" cy="5170164"/>
        </p:xfrm>
        <a:graphic>
          <a:graphicData uri="http://schemas.openxmlformats.org/drawingml/2006/table">
            <a:tbl>
              <a:tblPr/>
              <a:tblGrid>
                <a:gridCol w="391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155"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Operator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Operation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+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Addition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77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-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Subtraction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01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*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Multiplication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/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Division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9285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%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Modulo Operation (Remainder after division)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2400" y="1160145"/>
            <a:ext cx="11815445" cy="49237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Unary Operators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7" name="Table 6"/>
          <p:cNvGraphicFramePr/>
          <p:nvPr/>
        </p:nvGraphicFramePr>
        <p:xfrm>
          <a:off x="6096000" y="1281303"/>
          <a:ext cx="783588" cy="5170164"/>
        </p:xfrm>
        <a:graphic>
          <a:graphicData uri="http://schemas.openxmlformats.org/drawingml/2006/table">
            <a:tbl>
              <a:tblPr/>
              <a:tblGrid>
                <a:gridCol w="391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155"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Operator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Operation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+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Addition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77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-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Subtraction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01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*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Multiplication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/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Division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9285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%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Modulo Operation (Remainder after division)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2400" y="1160145"/>
            <a:ext cx="11815445" cy="49237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Bitwise Operators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7" name="Table 6"/>
          <p:cNvGraphicFramePr/>
          <p:nvPr/>
        </p:nvGraphicFramePr>
        <p:xfrm>
          <a:off x="6096000" y="1281303"/>
          <a:ext cx="783588" cy="5170164"/>
        </p:xfrm>
        <a:graphic>
          <a:graphicData uri="http://schemas.openxmlformats.org/drawingml/2006/table">
            <a:tbl>
              <a:tblPr/>
              <a:tblGrid>
                <a:gridCol w="391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155"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Operator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Operation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+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Addition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77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-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Subtraction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01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*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Multiplication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/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Division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9285">
                <a:tc>
                  <a:txBody>
                    <a:bodyPr/>
                    <a:lstStyle/>
                    <a:p>
                      <a:pPr marL="30480" indent="0">
                        <a:lnSpc>
                          <a:spcPts val="1200"/>
                        </a:lnSpc>
                        <a:spcAft>
                          <a:spcPct val="0"/>
                        </a:spcAft>
                      </a:pPr>
                      <a:r>
                        <a:rPr sz="2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%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0" indent="0">
                        <a:spcAft>
                          <a:spcPct val="0"/>
                        </a:spcAft>
                      </a:pPr>
                      <a:r>
                        <a:rPr sz="300" b="0" i="0">
                          <a:solidFill>
                            <a:srgbClr val="25265E"/>
                          </a:solidFill>
                          <a:latin typeface="euclid_circular_a"/>
                          <a:ea typeface="euclid_circular_a"/>
                        </a:rPr>
                        <a:t>Modulo Operation (Remainder after division)</a:t>
                      </a:r>
                    </a:p>
                  </a:txBody>
                  <a:tcPr marL="183197" marR="183197" marT="91757" marB="9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Content Placeholder 7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53210" y="915035"/>
            <a:ext cx="9046845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Other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" y="1095375"/>
            <a:ext cx="11938000" cy="5261610"/>
          </a:xfrm>
        </p:spPr>
        <p:txBody>
          <a:bodyPr/>
          <a:lstStyle/>
          <a:p>
            <a:r>
              <a:rPr lang="en-US"/>
              <a:t>Java also provides increment and decrement operators: ++ and -- respectively. ++ increases the value of the operand by 1, while -- decrease it by 1.</a:t>
            </a:r>
          </a:p>
          <a:p>
            <a:r>
              <a:rPr lang="en-US"/>
              <a:t>Java also provides </a:t>
            </a:r>
            <a:r>
              <a:rPr lang="en-US" b="1"/>
              <a:t>ternary operator</a:t>
            </a:r>
            <a:r>
              <a:rPr lang="en-US"/>
              <a:t> similar to that of C++.</a:t>
            </a:r>
          </a:p>
          <a:p>
            <a:r>
              <a:rPr lang="en-US"/>
              <a:t>The </a:t>
            </a:r>
            <a:r>
              <a:rPr lang="en-US" b="1"/>
              <a:t>instanceof</a:t>
            </a:r>
            <a:r>
              <a:rPr lang="en-US"/>
              <a:t> operator checks whether an object is an instanceof a particular class.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17</a:t>
            </a:fld>
            <a:endParaRPr lang="en-US"/>
          </a:p>
        </p:txBody>
      </p:sp>
      <p:sp>
        <p:nvSpPr>
          <p:cNvPr id="8" name="Text Box 7"/>
          <p:cNvSpPr txBox="1"/>
          <p:nvPr>
            <p:custDataLst>
              <p:tags r:id="rId1"/>
            </p:custDataLst>
          </p:nvPr>
        </p:nvSpPr>
        <p:spPr>
          <a:xfrm>
            <a:off x="2493645" y="3108960"/>
            <a:ext cx="7166610" cy="34131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2400"/>
              <a:t>class Main {</a:t>
            </a:r>
          </a:p>
          <a:p>
            <a:r>
              <a:rPr lang="en-US" sz="2400"/>
              <a:t>  public static void main(String[] args) {</a:t>
            </a:r>
          </a:p>
          <a:p>
            <a:r>
              <a:rPr lang="en-US" sz="2400"/>
              <a:t>    String str = "Programiz";</a:t>
            </a:r>
          </a:p>
          <a:p>
            <a:r>
              <a:rPr lang="en-US" sz="2400"/>
              <a:t>    boolean result;</a:t>
            </a:r>
          </a:p>
          <a:p>
            <a:r>
              <a:rPr lang="en-US" sz="2400"/>
              <a:t>    result = str </a:t>
            </a:r>
            <a:r>
              <a:rPr lang="en-US" sz="2400" b="1"/>
              <a:t>instanceof</a:t>
            </a:r>
            <a:r>
              <a:rPr lang="en-US" sz="2400"/>
              <a:t> String;</a:t>
            </a:r>
          </a:p>
          <a:p>
            <a:r>
              <a:rPr lang="en-US" sz="2400"/>
              <a:t>    System.out.println("Is str an object of String? " + result); </a:t>
            </a:r>
          </a:p>
          <a:p>
            <a:r>
              <a:rPr lang="en-US" sz="2400"/>
              <a:t>  }</a:t>
            </a:r>
          </a:p>
          <a:p>
            <a:r>
              <a:rPr lang="en-US" sz="2400"/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Basic Output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" y="1095375"/>
            <a:ext cx="11938000" cy="5261610"/>
          </a:xfrm>
        </p:spPr>
        <p:txBody>
          <a:bodyPr/>
          <a:lstStyle/>
          <a:p>
            <a:r>
              <a:rPr lang="en-US"/>
              <a:t>You can use any of the following.</a:t>
            </a:r>
          </a:p>
          <a:p>
            <a:endParaRPr lang="en-US"/>
          </a:p>
          <a:p>
            <a:r>
              <a:rPr lang="en-US"/>
              <a:t>Difference between println(), print() and printf():</a:t>
            </a:r>
          </a:p>
          <a:p>
            <a:pPr lvl="1"/>
            <a:r>
              <a:rPr lang="en-US" b="1"/>
              <a:t>print()</a:t>
            </a:r>
            <a:r>
              <a:rPr lang="en-US"/>
              <a:t> - It prints string inside the quotes.</a:t>
            </a:r>
          </a:p>
          <a:p>
            <a:pPr lvl="1"/>
            <a:r>
              <a:rPr lang="en-US" b="1"/>
              <a:t>println()</a:t>
            </a:r>
            <a:r>
              <a:rPr lang="en-US"/>
              <a:t> - It prints string inside the quotes similar like print() method. Then the cursor moves to the beginning of the next line.</a:t>
            </a:r>
          </a:p>
          <a:p>
            <a:pPr lvl="1"/>
            <a:r>
              <a:rPr lang="en-US" b="1"/>
              <a:t>printf()</a:t>
            </a:r>
            <a:r>
              <a:rPr lang="en-US"/>
              <a:t> - It provides string formatting (similar to C/C++).</a:t>
            </a:r>
          </a:p>
          <a:p>
            <a:pPr lvl="0"/>
            <a:r>
              <a:rPr lang="en-US"/>
              <a:t>Try this one and see the difference.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18</a:t>
            </a:fld>
            <a:endParaRPr lang="en-US"/>
          </a:p>
        </p:txBody>
      </p:sp>
      <p:sp>
        <p:nvSpPr>
          <p:cNvPr id="8" name="Text Box 7"/>
          <p:cNvSpPr txBox="1"/>
          <p:nvPr>
            <p:custDataLst>
              <p:tags r:id="rId1"/>
            </p:custDataLst>
          </p:nvPr>
        </p:nvSpPr>
        <p:spPr>
          <a:xfrm>
            <a:off x="7478395" y="1010920"/>
            <a:ext cx="33496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System.out.println(); or</a:t>
            </a:r>
          </a:p>
          <a:p>
            <a:r>
              <a:rPr lang="en-US" sz="2400"/>
              <a:t>System.out.print(); or</a:t>
            </a:r>
          </a:p>
          <a:p>
            <a:r>
              <a:rPr lang="en-US" sz="2400"/>
              <a:t>System.out.printf();</a:t>
            </a:r>
          </a:p>
        </p:txBody>
      </p:sp>
      <p:sp>
        <p:nvSpPr>
          <p:cNvPr id="7" name="Text Box 6"/>
          <p:cNvSpPr txBox="1"/>
          <p:nvPr>
            <p:custDataLst>
              <p:tags r:id="rId2"/>
            </p:custDataLst>
          </p:nvPr>
        </p:nvSpPr>
        <p:spPr>
          <a:xfrm>
            <a:off x="6952615" y="4206875"/>
            <a:ext cx="4680585" cy="2327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/>
              <a:t>class Output {</a:t>
            </a:r>
          </a:p>
          <a:p>
            <a:r>
              <a:rPr lang="en-US" sz="2000"/>
              <a:t>    public static void main(String[] args) {</a:t>
            </a:r>
          </a:p>
          <a:p>
            <a:pPr indent="457200"/>
            <a:r>
              <a:rPr lang="en-US" sz="2000"/>
              <a:t>int d = 10;</a:t>
            </a:r>
          </a:p>
          <a:p>
            <a:r>
              <a:rPr lang="en-US" sz="2000"/>
              <a:t>        System.out.println("1. println ");</a:t>
            </a:r>
          </a:p>
          <a:p>
            <a:r>
              <a:rPr lang="en-US" sz="2000"/>
              <a:t>        System.out.println("2. println ");</a:t>
            </a:r>
          </a:p>
          <a:p>
            <a:r>
              <a:rPr lang="en-US" sz="2000"/>
              <a:t>        System.out.print("1. print");</a:t>
            </a:r>
          </a:p>
          <a:p>
            <a:r>
              <a:rPr lang="en-US" sz="2000"/>
              <a:t>        System.out.printf("2. printf %d", d);</a:t>
            </a:r>
          </a:p>
          <a:p>
            <a:r>
              <a:rPr lang="en-US" sz="2000"/>
              <a:t>    } 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Try Yourself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" y="1095375"/>
            <a:ext cx="11938000" cy="5261610"/>
          </a:xfrm>
        </p:spPr>
        <p:txBody>
          <a:bodyPr/>
          <a:lstStyle/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19</a:t>
            </a:fld>
            <a:endParaRPr lang="en-US"/>
          </a:p>
        </p:txBody>
      </p:sp>
      <p:sp>
        <p:nvSpPr>
          <p:cNvPr id="8" name="Text Box 7"/>
          <p:cNvSpPr txBox="1"/>
          <p:nvPr>
            <p:custDataLst>
              <p:tags r:id="rId1"/>
            </p:custDataLst>
          </p:nvPr>
        </p:nvSpPr>
        <p:spPr>
          <a:xfrm>
            <a:off x="212090" y="1900555"/>
            <a:ext cx="5210810" cy="3187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2400"/>
              <a:t>class Variables {</a:t>
            </a:r>
          </a:p>
          <a:p>
            <a:r>
              <a:rPr lang="en-US" sz="2400"/>
              <a:t>    public static void main(String[] args) {</a:t>
            </a:r>
          </a:p>
          <a:p>
            <a:r>
              <a:rPr lang="en-US" sz="2400"/>
              <a:t>        Double number = -10.6;</a:t>
            </a:r>
          </a:p>
          <a:p>
            <a:r>
              <a:rPr lang="en-US" sz="2400"/>
              <a:t>        System.out.println(5);</a:t>
            </a:r>
          </a:p>
          <a:p>
            <a:r>
              <a:rPr lang="en-US" sz="2400"/>
              <a:t>        System.out.println(number);</a:t>
            </a:r>
          </a:p>
          <a:p>
            <a:r>
              <a:rPr lang="en-US" sz="2400"/>
              <a:t>    }</a:t>
            </a:r>
          </a:p>
          <a:p>
            <a:r>
              <a:rPr lang="en-US" sz="2400"/>
              <a:t>}</a:t>
            </a:r>
          </a:p>
        </p:txBody>
      </p:sp>
      <p:sp>
        <p:nvSpPr>
          <p:cNvPr id="7" name="Text Box 6"/>
          <p:cNvSpPr txBox="1"/>
          <p:nvPr>
            <p:custDataLst>
              <p:tags r:id="rId2"/>
            </p:custDataLst>
          </p:nvPr>
        </p:nvSpPr>
        <p:spPr>
          <a:xfrm>
            <a:off x="5422900" y="1900555"/>
            <a:ext cx="6158865" cy="3186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2400"/>
              <a:t>class PrintVariables {</a:t>
            </a:r>
          </a:p>
          <a:p>
            <a:r>
              <a:rPr lang="en-US" sz="2400"/>
              <a:t>    public static void main(String[] args) {</a:t>
            </a:r>
          </a:p>
          <a:p>
            <a:r>
              <a:rPr lang="en-US" sz="2400"/>
              <a:t>        Double number = -10.6;</a:t>
            </a:r>
          </a:p>
          <a:p>
            <a:r>
              <a:rPr lang="en-US" sz="2400"/>
              <a:t>        System.out.println("I am " + "awesome.");</a:t>
            </a:r>
          </a:p>
          <a:p>
            <a:r>
              <a:rPr lang="en-US" sz="2400"/>
              <a:t>        System.out.println("Number = " + number);</a:t>
            </a:r>
          </a:p>
          <a:p>
            <a:r>
              <a:rPr lang="en-US" sz="2400"/>
              <a:t>    }</a:t>
            </a:r>
          </a:p>
          <a:p>
            <a:r>
              <a:rPr lang="en-US" sz="2400"/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Basic Input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" y="1095375"/>
            <a:ext cx="11938000" cy="5261610"/>
          </a:xfrm>
        </p:spPr>
        <p:txBody>
          <a:bodyPr/>
          <a:lstStyle/>
          <a:p>
            <a:endParaRPr lang="en-US"/>
          </a:p>
          <a:p>
            <a:r>
              <a:rPr lang="en-US"/>
              <a:t>We will learn to get input from user using the object of </a:t>
            </a:r>
            <a:r>
              <a:rPr lang="en-US" b="1"/>
              <a:t>Scanner</a:t>
            </a:r>
            <a:r>
              <a:rPr lang="en-US"/>
              <a:t> class.</a:t>
            </a:r>
          </a:p>
          <a:p>
            <a:r>
              <a:rPr lang="en-US"/>
              <a:t>In order to use the object of Scanner, we need to import </a:t>
            </a:r>
            <a:r>
              <a:rPr lang="en-US" b="1"/>
              <a:t>java.util.Scanner</a:t>
            </a:r>
            <a:r>
              <a:rPr lang="en-US"/>
              <a:t> package.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20</a:t>
            </a:fld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3213735" y="3011805"/>
            <a:ext cx="4893310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/>
              <a:t>import java.util.Scanner;</a:t>
            </a:r>
          </a:p>
        </p:txBody>
      </p:sp>
      <p:sp>
        <p:nvSpPr>
          <p:cNvPr id="10" name="Text Box 9"/>
          <p:cNvSpPr txBox="1"/>
          <p:nvPr>
            <p:custDataLst>
              <p:tags r:id="rId1"/>
            </p:custDataLst>
          </p:nvPr>
        </p:nvSpPr>
        <p:spPr>
          <a:xfrm>
            <a:off x="3268980" y="3709035"/>
            <a:ext cx="6511925" cy="1938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/>
              <a:t>// create an object of Scanner</a:t>
            </a:r>
          </a:p>
          <a:p>
            <a:r>
              <a:rPr lang="en-US" sz="2400"/>
              <a:t>Scanner input = new Scanner(System.in);</a:t>
            </a:r>
          </a:p>
          <a:p>
            <a:endParaRPr lang="en-US" sz="2400"/>
          </a:p>
          <a:p>
            <a:r>
              <a:rPr lang="en-US" sz="2400"/>
              <a:t>// take input from the user</a:t>
            </a:r>
          </a:p>
          <a:p>
            <a:r>
              <a:rPr lang="en-US" sz="2400"/>
              <a:t>int number = input.nextInt();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Basic Input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" y="1095375"/>
            <a:ext cx="11938000" cy="5261610"/>
          </a:xfrm>
        </p:spPr>
        <p:txBody>
          <a:bodyPr/>
          <a:lstStyle/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21</a:t>
            </a:fld>
            <a:endParaRPr lang="en-US"/>
          </a:p>
        </p:txBody>
      </p:sp>
      <p:sp>
        <p:nvSpPr>
          <p:cNvPr id="10" name="Text Box 9"/>
          <p:cNvSpPr txBox="1"/>
          <p:nvPr>
            <p:custDataLst>
              <p:tags r:id="rId1"/>
            </p:custDataLst>
          </p:nvPr>
        </p:nvSpPr>
        <p:spPr>
          <a:xfrm>
            <a:off x="1163955" y="1095375"/>
            <a:ext cx="4893310" cy="5323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/>
              <a:t>import java.util.Scanner;</a:t>
            </a:r>
          </a:p>
          <a:p>
            <a:r>
              <a:rPr lang="en-US" sz="2000"/>
              <a:t>class Input {</a:t>
            </a:r>
          </a:p>
          <a:p>
            <a:r>
              <a:rPr lang="en-US" sz="2000"/>
              <a:t>    public static void main(String[] args) {</a:t>
            </a:r>
          </a:p>
          <a:p>
            <a:r>
              <a:rPr lang="en-US" sz="2000"/>
              <a:t>    	</a:t>
            </a:r>
          </a:p>
          <a:p>
            <a:r>
              <a:rPr lang="en-US" sz="2000"/>
              <a:t>        Scanner input = new Scanner(System.in);</a:t>
            </a:r>
          </a:p>
          <a:p>
            <a:r>
              <a:rPr lang="en-US" sz="2000"/>
              <a:t>    	</a:t>
            </a:r>
          </a:p>
          <a:p>
            <a:r>
              <a:rPr lang="en-US" sz="2000"/>
              <a:t>        // Getting float input</a:t>
            </a:r>
          </a:p>
          <a:p>
            <a:r>
              <a:rPr lang="en-US" sz="2000"/>
              <a:t>        System.out.print("Enter float: ");</a:t>
            </a:r>
          </a:p>
          <a:p>
            <a:r>
              <a:rPr lang="en-US" sz="2000"/>
              <a:t>        float myFloat = </a:t>
            </a:r>
            <a:r>
              <a:rPr lang="en-US" sz="2000" b="1"/>
              <a:t>input.nextFloat();</a:t>
            </a:r>
            <a:endParaRPr lang="en-US" sz="2000"/>
          </a:p>
          <a:p>
            <a:r>
              <a:rPr lang="en-US" sz="2000"/>
              <a:t>        System.out.println("Float entered = " + myFloat);</a:t>
            </a:r>
          </a:p>
          <a:p>
            <a:r>
              <a:rPr lang="en-US" sz="2000"/>
              <a:t>    	</a:t>
            </a:r>
          </a:p>
          <a:p>
            <a:r>
              <a:rPr lang="en-US" sz="2000"/>
              <a:t>        // Getting double input</a:t>
            </a:r>
          </a:p>
          <a:p>
            <a:r>
              <a:rPr lang="en-US" sz="2000"/>
              <a:t>        System.out.print("Enter double: ");</a:t>
            </a:r>
          </a:p>
          <a:p>
            <a:r>
              <a:rPr lang="en-US" sz="2000"/>
              <a:t>        double myDouble = </a:t>
            </a:r>
            <a:r>
              <a:rPr lang="en-US" sz="2000" b="1"/>
              <a:t>input.nextDouble();</a:t>
            </a:r>
            <a:endParaRPr lang="en-US" sz="2000"/>
          </a:p>
          <a:p>
            <a:r>
              <a:rPr lang="en-US" sz="2000"/>
              <a:t>        System.out.println("Double entered = " + myDouble);</a:t>
            </a:r>
          </a:p>
        </p:txBody>
      </p:sp>
      <p:sp>
        <p:nvSpPr>
          <p:cNvPr id="7" name="Text Box 6"/>
          <p:cNvSpPr txBox="1"/>
          <p:nvPr>
            <p:custDataLst>
              <p:tags r:id="rId2"/>
            </p:custDataLst>
          </p:nvPr>
        </p:nvSpPr>
        <p:spPr>
          <a:xfrm>
            <a:off x="6184265" y="1710690"/>
            <a:ext cx="4893310" cy="40925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/>
              <a:t>        // Getting String input</a:t>
            </a:r>
          </a:p>
          <a:p>
            <a:r>
              <a:rPr lang="en-US" sz="2000"/>
              <a:t>        System.out.print("Enter text: ");</a:t>
            </a:r>
          </a:p>
          <a:p>
            <a:r>
              <a:rPr lang="en-US" sz="2000"/>
              <a:t>        String myString = </a:t>
            </a:r>
            <a:r>
              <a:rPr lang="en-US" sz="2000" b="1"/>
              <a:t>input.next();</a:t>
            </a:r>
          </a:p>
          <a:p>
            <a:r>
              <a:rPr lang="en-US" sz="2000"/>
              <a:t>        System.out.println("Text entered = " + myString);</a:t>
            </a:r>
          </a:p>
          <a:p>
            <a:endParaRPr lang="en-US" sz="2000"/>
          </a:p>
          <a:p>
            <a:pPr indent="457200"/>
            <a:r>
              <a:rPr lang="en-US" sz="2000"/>
              <a:t>// Getting integer inout</a:t>
            </a:r>
          </a:p>
          <a:p>
            <a:pPr indent="457200"/>
            <a:r>
              <a:rPr lang="en-US" sz="2000"/>
              <a:t>System.out.print("Enter an integer: ");</a:t>
            </a:r>
          </a:p>
          <a:p>
            <a:pPr indent="457200"/>
            <a:r>
              <a:rPr lang="en-US" sz="2000"/>
              <a:t>int number = </a:t>
            </a:r>
            <a:r>
              <a:rPr lang="en-US" sz="2000" b="1"/>
              <a:t>input.nextInt();</a:t>
            </a:r>
          </a:p>
          <a:p>
            <a:pPr indent="457200"/>
            <a:r>
              <a:rPr lang="en-US" sz="2000"/>
              <a:t>System.out.println("You entered " + number);</a:t>
            </a:r>
          </a:p>
          <a:p>
            <a:r>
              <a:rPr lang="en-US" sz="2000"/>
              <a:t>    }</a:t>
            </a:r>
          </a:p>
          <a:p>
            <a:r>
              <a:rPr lang="en-US" sz="2000"/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Expressions, Statements and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" y="1095375"/>
            <a:ext cx="11938000" cy="5261610"/>
          </a:xfrm>
        </p:spPr>
        <p:txBody>
          <a:bodyPr/>
          <a:lstStyle/>
          <a:p>
            <a:r>
              <a:rPr lang="en-US"/>
              <a:t>A Java expression consists of variables, operators, literals, and method calls.</a:t>
            </a:r>
          </a:p>
          <a:p>
            <a:endParaRPr lang="en-US"/>
          </a:p>
          <a:p>
            <a:r>
              <a:rPr lang="en-US"/>
              <a:t>In Java, each statement is a complete unit of execution.</a:t>
            </a:r>
          </a:p>
          <a:p>
            <a:endParaRPr lang="en-US"/>
          </a:p>
          <a:p>
            <a:r>
              <a:rPr lang="en-US"/>
              <a:t>We can convert an expression into a statement by terminating the expression with a ; which are known as expression statements.</a:t>
            </a:r>
          </a:p>
          <a:p>
            <a:endParaRPr lang="en-US"/>
          </a:p>
          <a:p>
            <a:r>
              <a:rPr lang="en-US"/>
              <a:t>A block is a group of statements (zero or more) that is </a:t>
            </a:r>
          </a:p>
          <a:p>
            <a:pPr marL="0" indent="0">
              <a:buNone/>
            </a:pPr>
            <a:r>
              <a:rPr lang="en-US"/>
              <a:t>   enclosed in curly braces { }.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22</a:t>
            </a:fld>
            <a:endParaRPr lang="en-US"/>
          </a:p>
        </p:txBody>
      </p:sp>
      <p:sp>
        <p:nvSpPr>
          <p:cNvPr id="7" name="Text Box 6"/>
          <p:cNvSpPr txBox="1"/>
          <p:nvPr>
            <p:custDataLst>
              <p:tags r:id="rId1"/>
            </p:custDataLst>
          </p:nvPr>
        </p:nvSpPr>
        <p:spPr>
          <a:xfrm>
            <a:off x="8883650" y="3825875"/>
            <a:ext cx="2076450" cy="17157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sz="2400"/>
              <a:t>// expression</a:t>
            </a:r>
          </a:p>
          <a:p>
            <a:r>
              <a:rPr lang="en-US" sz="2400"/>
              <a:t>number = 10</a:t>
            </a:r>
          </a:p>
          <a:p>
            <a:r>
              <a:rPr lang="en-US" sz="2400"/>
              <a:t>// statement</a:t>
            </a:r>
          </a:p>
          <a:p>
            <a:r>
              <a:rPr lang="en-US" sz="2400"/>
              <a:t>number = 10;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Try it yourself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" y="1095375"/>
            <a:ext cx="11938000" cy="5261610"/>
          </a:xfrm>
        </p:spPr>
        <p:txBody>
          <a:bodyPr/>
          <a:lstStyle/>
          <a:p>
            <a:r>
              <a:rPr lang="en-US"/>
              <a:t>Write a java program to calculate discount price and the amount of savings per purchase for the following problem.</a:t>
            </a:r>
          </a:p>
          <a:p>
            <a:pPr lvl="1"/>
            <a:r>
              <a:rPr lang="en-US"/>
              <a:t>Suppose, you went to a Business Fair. You will buy a book worth of 45 taka and a gift box which is 100 taka. The shopkeeper can give you 12% and 18% discount on each item. You will buy both items together.  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112395"/>
            <a:ext cx="11938000" cy="802640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" y="1095375"/>
            <a:ext cx="11938000" cy="5261610"/>
          </a:xfrm>
        </p:spPr>
        <p:txBody>
          <a:bodyPr/>
          <a:lstStyle/>
          <a:p>
            <a:r>
              <a:rPr lang="en-US" b="1">
                <a:sym typeface="+mn-ea"/>
              </a:rPr>
              <a:t>Java - The Complete Reference by Herbert Schildt	</a:t>
            </a:r>
            <a:endParaRPr lang="en-US" b="1"/>
          </a:p>
          <a:p>
            <a:r>
              <a:rPr lang="en-US">
                <a:sym typeface="+mn-ea"/>
              </a:rPr>
              <a:t>https://www.geeksforgeeks.org/java/</a:t>
            </a:r>
            <a:endParaRPr lang="en-US"/>
          </a:p>
          <a:p>
            <a:r>
              <a:rPr lang="en-US">
                <a:sym typeface="+mn-ea"/>
              </a:rPr>
              <a:t>https://www.w3schools.com/java/</a:t>
            </a:r>
            <a:endParaRPr lang="en-US"/>
          </a:p>
          <a:p>
            <a:r>
              <a:rPr lang="en-US">
                <a:sym typeface="+mn-ea"/>
              </a:rPr>
              <a:t>https://www.javatpoint.com/java-tutorial</a:t>
            </a:r>
            <a:endParaRPr lang="en-US"/>
          </a:p>
          <a:p>
            <a:r>
              <a:rPr lang="en-US">
                <a:sym typeface="+mn-ea"/>
              </a:rPr>
              <a:t>https://www.tutorialspoint.com/java/index.htm</a:t>
            </a:r>
            <a:endParaRPr lang="en-US"/>
          </a:p>
          <a:p>
            <a:r>
              <a:rPr lang="en-US">
                <a:sym typeface="+mn-ea"/>
              </a:rPr>
              <a:t>https://www.programiz.com/java-programming</a:t>
            </a:r>
            <a:endParaRPr lang="en-US"/>
          </a:p>
          <a:p>
            <a:r>
              <a:rPr lang="en-US" b="1">
                <a:sym typeface="+mn-ea"/>
              </a:rPr>
              <a:t>https://github.com/Rafiquzzaman420/Free-Programming-Books</a:t>
            </a:r>
          </a:p>
          <a:p>
            <a:endParaRPr lang="en-US"/>
          </a:p>
          <a:p>
            <a:r>
              <a:rPr lang="en-US"/>
              <a:t>YouTube Channel - </a:t>
            </a:r>
            <a:r>
              <a:rPr lang="en-US" b="1"/>
              <a:t>thenewboston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28-Aug-24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1628</Words>
  <Application>Microsoft Office PowerPoint</Application>
  <PresentationFormat>Widescreen</PresentationFormat>
  <Paragraphs>359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euclid_circular_a</vt:lpstr>
      <vt:lpstr>Office Theme</vt:lpstr>
      <vt:lpstr>1_Office Theme</vt:lpstr>
      <vt:lpstr>Java Introduction and Fundamentals</vt:lpstr>
      <vt:lpstr>Introduction</vt:lpstr>
      <vt:lpstr>Run A Java Program</vt:lpstr>
      <vt:lpstr>Basic Structure of Java Program</vt:lpstr>
      <vt:lpstr>Comments in Java Program</vt:lpstr>
      <vt:lpstr>Java Data Types (Primitive)</vt:lpstr>
      <vt:lpstr>Java Data Types (Primitive)</vt:lpstr>
      <vt:lpstr>Java Data Types (Primitive)</vt:lpstr>
      <vt:lpstr>Java Operators</vt:lpstr>
      <vt:lpstr>Arithmetic Operators</vt:lpstr>
      <vt:lpstr>Assignment Operators</vt:lpstr>
      <vt:lpstr>Relational Operators</vt:lpstr>
      <vt:lpstr>Logical Operators</vt:lpstr>
      <vt:lpstr>Unary Operators</vt:lpstr>
      <vt:lpstr>Unary Operators</vt:lpstr>
      <vt:lpstr>Bitwise Operators</vt:lpstr>
      <vt:lpstr>Other Operators</vt:lpstr>
      <vt:lpstr>Basic Output in Java</vt:lpstr>
      <vt:lpstr>Try Yourself</vt:lpstr>
      <vt:lpstr>Basic Input in Java</vt:lpstr>
      <vt:lpstr>Basic Input in Java</vt:lpstr>
      <vt:lpstr>Expressions, Statements and Blocks</vt:lpstr>
      <vt:lpstr>Try it yourself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Introduction and Fundamentals</dc:title>
  <dc:creator>Asus</dc:creator>
  <cp:lastModifiedBy>Abdullah Ashik</cp:lastModifiedBy>
  <cp:revision>88</cp:revision>
  <dcterms:created xsi:type="dcterms:W3CDTF">2024-07-25T04:50:00Z</dcterms:created>
  <dcterms:modified xsi:type="dcterms:W3CDTF">2024-08-28T07:40:29Z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4588D1D0F14243D8ACB173A6E82B2CFC_12</vt:lpwstr>
  </property>
  <property fmtid="{D5CDD505-2E9C-101B-9397-08002B2CF9AE}" pid="3" name="KSOProductBuildVer">
    <vt:lpwstr>1033-12.2.0.17562</vt:lpwstr>
  </property>
</Properties>
</file>